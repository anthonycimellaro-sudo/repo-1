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88952" cy="64008"/>
          </a:xfrm>
          <a:prstGeom prst="rect">
            <a:avLst/>
          </a:prstGeom>
          <a:solidFill>
            <a:srgbClr val="E8202F"/>
          </a:solidFill>
          <a:ln>
            <a:solidFill>
              <a:srgbClr val="E82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Product Development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AAAAAA"/>
                </a:solidFill>
              </a:rPr>
              <a:t>RACI Responsibility Matrix  |  Discovery through MP Launch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5303520"/>
            <a:ext cx="2011680" cy="502920"/>
          </a:xfrm>
          <a:prstGeom prst="rect">
            <a:avLst/>
          </a:prstGeom>
          <a:solidFill>
            <a:srgbClr val="BF1F1F"/>
          </a:solidFill>
          <a:ln>
            <a:solidFill>
              <a:srgbClr val="B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53035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  Responsible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5303520"/>
            <a:ext cx="2011680" cy="502920"/>
          </a:xfrm>
          <a:prstGeom prst="rect">
            <a:avLst/>
          </a:prstGeom>
          <a:solidFill>
            <a:srgbClr val="E07C00"/>
          </a:solidFill>
          <a:ln>
            <a:solidFill>
              <a:srgbClr val="E0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53035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  Accountable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47488" y="5303520"/>
            <a:ext cx="2011680" cy="502920"/>
          </a:xfrm>
          <a:prstGeom prst="rect">
            <a:avLst/>
          </a:prstGeom>
          <a:solidFill>
            <a:srgbClr val="1A65AD"/>
          </a:solidFill>
          <a:ln>
            <a:solidFill>
              <a:srgbClr val="1A65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488" y="53035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  Consulted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7" y="5303520"/>
            <a:ext cx="2011680" cy="502920"/>
          </a:xfrm>
          <a:prstGeom prst="rect">
            <a:avLst/>
          </a:prstGeom>
          <a:solidFill>
            <a:srgbClr val="888888"/>
          </a:solidFill>
          <a:ln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50607" y="53035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  Informed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53728" y="5303520"/>
            <a:ext cx="2011680" cy="502920"/>
          </a:xfrm>
          <a:prstGeom prst="rect">
            <a:avLst/>
          </a:prstGeom>
          <a:solidFill>
            <a:srgbClr val="7A187A"/>
          </a:solidFill>
          <a:ln>
            <a:solidFill>
              <a:srgbClr val="7A1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53728" y="53035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R/A  Both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40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Development Phases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" y="777240"/>
            <a:ext cx="1290319" cy="914400"/>
          </a:xfrm>
          <a:prstGeom prst="rect">
            <a:avLst/>
          </a:prstGeom>
          <a:solidFill>
            <a:srgbClr val="1B457A"/>
          </a:solidFill>
          <a:ln>
            <a:solidFill>
              <a:srgbClr val="1B4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" y="804672"/>
            <a:ext cx="1290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" y="1216152"/>
            <a:ext cx="12903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DDDDDD"/>
                </a:solidFill>
              </a:rPr>
              <a:t>Worth deeper
investment?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1760" y="777240"/>
            <a:ext cx="1290319" cy="914400"/>
          </a:xfrm>
          <a:prstGeom prst="rect">
            <a:avLst/>
          </a:prstGeom>
          <a:solidFill>
            <a:srgbClr val="0D628A"/>
          </a:solidFill>
          <a:ln>
            <a:solidFill>
              <a:srgbClr val="0D6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1760" y="804672"/>
            <a:ext cx="1290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1760" y="1216152"/>
            <a:ext cx="12903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DDDDDD"/>
                </a:solidFill>
              </a:rPr>
              <a:t>Should we invest
further?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36087" y="777240"/>
            <a:ext cx="1290319" cy="914400"/>
          </a:xfrm>
          <a:prstGeom prst="rect">
            <a:avLst/>
          </a:prstGeom>
          <a:solidFill>
            <a:srgbClr val="0A7465"/>
          </a:solidFill>
          <a:ln>
            <a:solidFill>
              <a:srgbClr val="0A74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36087" y="804672"/>
            <a:ext cx="1290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EVT Entry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6087" y="1216152"/>
            <a:ext cx="12903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DDDDDD"/>
                </a:solidFill>
              </a:rPr>
              <a:t>Design mature
for EVT?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90416" y="777240"/>
            <a:ext cx="1290319" cy="914400"/>
          </a:xfrm>
          <a:prstGeom prst="rect">
            <a:avLst/>
          </a:prstGeom>
          <a:solidFill>
            <a:srgbClr val="167A3A"/>
          </a:solidFill>
          <a:ln>
            <a:solidFill>
              <a:srgbClr val="167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90416" y="804672"/>
            <a:ext cx="1290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EVT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0416" y="1216152"/>
            <a:ext cx="12903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DDDDDD"/>
                </a:solidFill>
              </a:rPr>
              <a:t>Freeze arch,
push to DVT?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4744" y="777240"/>
            <a:ext cx="1290319" cy="914400"/>
          </a:xfrm>
          <a:prstGeom prst="rect">
            <a:avLst/>
          </a:prstGeom>
          <a:solidFill>
            <a:srgbClr val="5A7200"/>
          </a:solidFill>
          <a:ln>
            <a:solidFill>
              <a:srgbClr val="5A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44744" y="804672"/>
            <a:ext cx="1290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DVT Entry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4744" y="1216152"/>
            <a:ext cx="12903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DDDDDD"/>
                </a:solidFill>
              </a:rPr>
              <a:t>Arch mature?
Test plan set?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99072" y="777240"/>
            <a:ext cx="1290319" cy="914400"/>
          </a:xfrm>
          <a:prstGeom prst="rect">
            <a:avLst/>
          </a:prstGeom>
          <a:solidFill>
            <a:srgbClr val="7A5000"/>
          </a:solidFill>
          <a:ln>
            <a:solidFill>
              <a:srgbClr val="7A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9072" y="804672"/>
            <a:ext cx="1290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DVT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9072" y="1216152"/>
            <a:ext cx="12903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DDDDDD"/>
                </a:solidFill>
              </a:rPr>
              <a:t>Pass validation
&amp; certs?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53399" y="777240"/>
            <a:ext cx="1290319" cy="914400"/>
          </a:xfrm>
          <a:prstGeom prst="rect">
            <a:avLst/>
          </a:prstGeom>
          <a:solidFill>
            <a:srgbClr val="8B2500"/>
          </a:solidFill>
          <a:ln>
            <a:solidFill>
              <a:srgbClr val="8B2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3399" y="804672"/>
            <a:ext cx="1290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PVT Handover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3399" y="1216152"/>
            <a:ext cx="12903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DDDDDD"/>
                </a:solidFill>
              </a:rPr>
              <a:t>Factory ready
for PVT?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7727" y="777240"/>
            <a:ext cx="1290319" cy="914400"/>
          </a:xfrm>
          <a:prstGeom prst="rect">
            <a:avLst/>
          </a:prstGeom>
          <a:solidFill>
            <a:srgbClr val="8B001A"/>
          </a:solidFill>
          <a:ln>
            <a:solidFill>
              <a:srgbClr val="8B0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7727" y="804672"/>
            <a:ext cx="1290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PVT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7727" y="1216152"/>
            <a:ext cx="12903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DDDDDD"/>
                </a:solidFill>
              </a:rPr>
              <a:t>Final BOM,
certs, training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862055" y="777240"/>
            <a:ext cx="1290319" cy="914400"/>
          </a:xfrm>
          <a:prstGeom prst="rect">
            <a:avLst/>
          </a:prstGeom>
          <a:solidFill>
            <a:srgbClr val="4A004A"/>
          </a:solidFill>
          <a:ln>
            <a:solidFill>
              <a:srgbClr val="4A0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62055" y="804672"/>
            <a:ext cx="12903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MP / Launch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62055" y="1216152"/>
            <a:ext cx="12903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DDDDDD"/>
                </a:solidFill>
              </a:rPr>
              <a:t>Sustain or
retire mode?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9202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AAAAAA"/>
                </a:solidFill>
              </a:rPr>
              <a:t>Gate reviews (Go / No-Go / Hold / Pivot) required at the end of each major phase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2423160"/>
            <a:ext cx="1164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AAAA"/>
                </a:solidFill>
              </a:rPr>
              <a:t>Roles:  SVP  |  Eng Directors  |  Project Management  |  Mechanical Eng  |  Electrical Eng  |  Firmware Eng  |  ID/UX  |  Product Development  |  Quality/Manufacturing  |  Operations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98448" y="3017520"/>
            <a:ext cx="1828800" cy="384048"/>
          </a:xfrm>
          <a:prstGeom prst="rect">
            <a:avLst/>
          </a:prstGeom>
          <a:solidFill>
            <a:srgbClr val="BF1F1F"/>
          </a:solidFill>
          <a:ln>
            <a:solidFill>
              <a:srgbClr val="B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98448" y="30175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  Responsible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18688" y="3017520"/>
            <a:ext cx="1828800" cy="384048"/>
          </a:xfrm>
          <a:prstGeom prst="rect">
            <a:avLst/>
          </a:prstGeom>
          <a:solidFill>
            <a:srgbClr val="E07C00"/>
          </a:solidFill>
          <a:ln>
            <a:solidFill>
              <a:srgbClr val="E0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18688" y="30175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  Accountable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38928" y="3017520"/>
            <a:ext cx="1828800" cy="384048"/>
          </a:xfrm>
          <a:prstGeom prst="rect">
            <a:avLst/>
          </a:prstGeom>
          <a:solidFill>
            <a:srgbClr val="1A65AD"/>
          </a:solidFill>
          <a:ln>
            <a:solidFill>
              <a:srgbClr val="1A65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38928" y="30175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  Consulted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59168" y="3017520"/>
            <a:ext cx="1828800" cy="384048"/>
          </a:xfrm>
          <a:prstGeom prst="rect">
            <a:avLst/>
          </a:prstGeom>
          <a:solidFill>
            <a:srgbClr val="888888"/>
          </a:solidFill>
          <a:ln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59168" y="30175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  Informed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8" y="3017520"/>
            <a:ext cx="1828800" cy="384048"/>
          </a:xfrm>
          <a:prstGeom prst="rect">
            <a:avLst/>
          </a:prstGeom>
          <a:solidFill>
            <a:srgbClr val="7A187A"/>
          </a:solidFill>
          <a:ln>
            <a:solidFill>
              <a:srgbClr val="7A1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79408" y="30175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R/A  Both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457A"/>
          </a:solidFill>
          <a:ln>
            <a:solidFill>
              <a:srgbClr val="1B4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Discovery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DDDD"/>
                </a:solidFill>
              </a:rPr>
              <a:t>Is this worth real concept work and deeper investment?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solidFill>
            <a:srgbClr val="BF1F1F"/>
          </a:solidFill>
          <a:ln>
            <a:solidFill>
              <a:srgbClr val="B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" name="Rectangle 6"/>
          <p:cNvSpPr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solidFill>
            <a:srgbClr val="E07C00"/>
          </a:solidFill>
          <a:ln>
            <a:solidFill>
              <a:srgbClr val="E0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solidFill>
            <a:srgbClr val="1A65AD"/>
          </a:solidFill>
          <a:ln>
            <a:solidFill>
              <a:srgbClr val="1A65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solidFill>
            <a:srgbClr val="888888"/>
          </a:solidFill>
          <a:ln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solidFill>
            <a:srgbClr val="7A187A"/>
          </a:solidFill>
          <a:ln>
            <a:solidFill>
              <a:srgbClr val="7A1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R/A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" y="1005840"/>
          <a:ext cx="1196949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</a:tblGrid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SVP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Eng Dir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PM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Mech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Elec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FW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ID/UX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Prod Dev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Q/Mfg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1B457A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Conduct Innovation Sessions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Competitive Benchmarking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Technical Feasibility Assessments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Bench Top Concepts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Platform Assessment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System Mapping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Pre-BOM Inputs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Past Problem History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Scope Regulations &amp; Compliance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Initial Make vs Buy Analysis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IP Assessment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</a:tr>
              <a:tr h="43962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GATE: Discovery Exit Review</a:t>
                      </a:r>
                    </a:p>
                  </a:txBody>
                  <a:tcPr>
                    <a:solidFill>
                      <a:srgbClr val="12182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628A"/>
          </a:solidFill>
          <a:ln>
            <a:solidFill>
              <a:srgbClr val="0D6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Concept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DDDD"/>
                </a:solidFill>
              </a:rPr>
              <a:t>Develop the idea to give the business clarity — should we invest further?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solidFill>
            <a:srgbClr val="BF1F1F"/>
          </a:solidFill>
          <a:ln>
            <a:solidFill>
              <a:srgbClr val="B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" name="Rectangle 6"/>
          <p:cNvSpPr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solidFill>
            <a:srgbClr val="E07C00"/>
          </a:solidFill>
          <a:ln>
            <a:solidFill>
              <a:srgbClr val="E0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solidFill>
            <a:srgbClr val="1A65AD"/>
          </a:solidFill>
          <a:ln>
            <a:solidFill>
              <a:srgbClr val="1A65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solidFill>
            <a:srgbClr val="888888"/>
          </a:solidFill>
          <a:ln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solidFill>
            <a:srgbClr val="7A187A"/>
          </a:solidFill>
          <a:ln>
            <a:solidFill>
              <a:srgbClr val="7A1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R/A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" y="1005840"/>
          <a:ext cx="1196949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</a:tblGrid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SVP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Eng Dir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PM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Mech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Elec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FW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ID/UX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Prod Dev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Q/Mfg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0D628A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ID Refinement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3D Print Evaluation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Initial CAD Assessment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Initial Failure Simulations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Initial DFM Review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Schematic Outline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Preliminary PCB Layout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Initial Firmware Development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Preliminary DFMEA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Risk Register Established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7625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GATE: Concept Exit Review</a:t>
                      </a:r>
                    </a:p>
                  </a:txBody>
                  <a:tcPr>
                    <a:solidFill>
                      <a:srgbClr val="12182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7465"/>
          </a:solidFill>
          <a:ln>
            <a:solidFill>
              <a:srgbClr val="0A74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EVT Entry Expectations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DDDD"/>
                </a:solidFill>
              </a:rPr>
              <a:t>Do we have the required scope and is the design mature enough to begin EVT?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solidFill>
            <a:srgbClr val="BF1F1F"/>
          </a:solidFill>
          <a:ln>
            <a:solidFill>
              <a:srgbClr val="B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" name="Rectangle 6"/>
          <p:cNvSpPr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solidFill>
            <a:srgbClr val="E07C00"/>
          </a:solidFill>
          <a:ln>
            <a:solidFill>
              <a:srgbClr val="E0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solidFill>
            <a:srgbClr val="1A65AD"/>
          </a:solidFill>
          <a:ln>
            <a:solidFill>
              <a:srgbClr val="1A65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solidFill>
            <a:srgbClr val="888888"/>
          </a:solidFill>
          <a:ln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solidFill>
            <a:srgbClr val="7A187A"/>
          </a:solidFill>
          <a:ln>
            <a:solidFill>
              <a:srgbClr val="7A1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R/A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" y="1005840"/>
          <a:ext cx="1196949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</a:tblGrid>
              <a:tr h="81642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SVP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Eng Dir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PM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Mech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Elec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FW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ID/UX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Prod Dev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Q/Mfg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0A7465"/>
                    </a:solidFill>
                  </a:tcPr>
                </a:tc>
              </a:tr>
              <a:tr h="816428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Concept Agreement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816428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BOM Review Complete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816428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EVT Build Plan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816428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Concept CAD Frozen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816428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Schematic Frozen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8164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Contract Manufacturing Confirmed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7A3A"/>
          </a:solidFill>
          <a:ln>
            <a:solidFill>
              <a:srgbClr val="167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EVT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DDDD"/>
                </a:solidFill>
              </a:rPr>
              <a:t>Progressing design towards full validation and tooling release.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solidFill>
            <a:srgbClr val="BF1F1F"/>
          </a:solidFill>
          <a:ln>
            <a:solidFill>
              <a:srgbClr val="B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" name="Rectangle 6"/>
          <p:cNvSpPr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solidFill>
            <a:srgbClr val="E07C00"/>
          </a:solidFill>
          <a:ln>
            <a:solidFill>
              <a:srgbClr val="E0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solidFill>
            <a:srgbClr val="1A65AD"/>
          </a:solidFill>
          <a:ln>
            <a:solidFill>
              <a:srgbClr val="1A65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solidFill>
            <a:srgbClr val="888888"/>
          </a:solidFill>
          <a:ln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solidFill>
            <a:srgbClr val="7A187A"/>
          </a:solidFill>
          <a:ln>
            <a:solidFill>
              <a:srgbClr val="7A1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R/A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" y="1005840"/>
          <a:ext cx="1196949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</a:tblGrid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SVP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Eng Dir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PM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Mech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Elec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FW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ID/UX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Prod Dev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Q/Mfg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167A3A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Hardware Bring-Up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Firmware Development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Electrical Pre-Scan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Assembly Verification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DFM Finalized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EoL Development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System Architecture &amp; Feature Alloc.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DFMEA &amp; Test Matrix Updated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Risk Register Updated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CM Reporting Cadence Agreement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43961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EVT Build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43962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GATE: EVT Exit Review</a:t>
                      </a:r>
                    </a:p>
                  </a:txBody>
                  <a:tcPr>
                    <a:solidFill>
                      <a:srgbClr val="12182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5A7200"/>
          </a:solidFill>
          <a:ln>
            <a:solidFill>
              <a:srgbClr val="5A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DVT Entry Expectations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DDDD"/>
                </a:solidFill>
              </a:rPr>
              <a:t>Is the system architecture mature? Do we have a confirmed test plan?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solidFill>
            <a:srgbClr val="BF1F1F"/>
          </a:solidFill>
          <a:ln>
            <a:solidFill>
              <a:srgbClr val="B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" name="Rectangle 6"/>
          <p:cNvSpPr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solidFill>
            <a:srgbClr val="E07C00"/>
          </a:solidFill>
          <a:ln>
            <a:solidFill>
              <a:srgbClr val="E0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solidFill>
            <a:srgbClr val="1A65AD"/>
          </a:solidFill>
          <a:ln>
            <a:solidFill>
              <a:srgbClr val="1A65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solidFill>
            <a:srgbClr val="888888"/>
          </a:solidFill>
          <a:ln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solidFill>
            <a:srgbClr val="7A187A"/>
          </a:solidFill>
          <a:ln>
            <a:solidFill>
              <a:srgbClr val="7A1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R/A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" y="1005840"/>
          <a:ext cx="1196949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</a:tblGrid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SVP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Eng Dir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PM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Mech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Elec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FW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ID/UX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Prod Dev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Q/Mfg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5A7200"/>
                    </a:solidFill>
                  </a:tcPr>
                </a:tc>
              </a:tr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Design Status - Frozen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Feature Functionality Complete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Tooling Agreement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</a:tr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BOM Review Complete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EVT Test Report Documented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Certification Plan Documented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Yield Report Reviewed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7A5000"/>
          </a:solidFill>
          <a:ln>
            <a:solidFill>
              <a:srgbClr val="7A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DVT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DDDD"/>
                </a:solidFill>
              </a:rPr>
              <a:t>Progressing towards production level builds that can pass all validation and certification.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solidFill>
            <a:srgbClr val="BF1F1F"/>
          </a:solidFill>
          <a:ln>
            <a:solidFill>
              <a:srgbClr val="B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" name="Rectangle 6"/>
          <p:cNvSpPr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solidFill>
            <a:srgbClr val="E07C00"/>
          </a:solidFill>
          <a:ln>
            <a:solidFill>
              <a:srgbClr val="E0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solidFill>
            <a:srgbClr val="1A65AD"/>
          </a:solidFill>
          <a:ln>
            <a:solidFill>
              <a:srgbClr val="1A65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solidFill>
            <a:srgbClr val="888888"/>
          </a:solidFill>
          <a:ln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solidFill>
            <a:srgbClr val="7A187A"/>
          </a:solidFill>
          <a:ln>
            <a:solidFill>
              <a:srgbClr val="7A1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R/A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" y="1005840"/>
          <a:ext cx="1196949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</a:tblGrid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SVP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Eng Dir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PM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Mech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Elec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FW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ID/UX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Prod Dev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Q/Mfg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7A5000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Tooling Validation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Reliability Testing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Process Flow Diagram Development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Establish Work Instructions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Develop PFMEA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Write Control Plan &amp; Production Docs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Determine Cosmetic Limit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DVT Build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DVT Testing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Regulatory Certification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Confirm Firmware Stability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Yield Analysis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Packaging Testing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GATE: DVT Exit Review</a:t>
                      </a:r>
                    </a:p>
                  </a:txBody>
                  <a:tcPr>
                    <a:solidFill>
                      <a:srgbClr val="12182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8B2500"/>
          </a:solidFill>
          <a:ln>
            <a:solidFill>
              <a:srgbClr val="8B2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DVT to PVT Handover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DDDD"/>
                </a:solidFill>
              </a:rPr>
              <a:t>Have we identified all engineering risks and provided support needed for manufacturing?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solidFill>
            <a:srgbClr val="BF1F1F"/>
          </a:solidFill>
          <a:ln>
            <a:solidFill>
              <a:srgbClr val="B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" name="Rectangle 6"/>
          <p:cNvSpPr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solidFill>
            <a:srgbClr val="E07C00"/>
          </a:solidFill>
          <a:ln>
            <a:solidFill>
              <a:srgbClr val="E0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solidFill>
            <a:srgbClr val="1A65AD"/>
          </a:solidFill>
          <a:ln>
            <a:solidFill>
              <a:srgbClr val="1A65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solidFill>
            <a:srgbClr val="888888"/>
          </a:solidFill>
          <a:ln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solidFill>
            <a:srgbClr val="7A187A"/>
          </a:solidFill>
          <a:ln>
            <a:solidFill>
              <a:srgbClr val="7A1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R/A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" y="1005840"/>
          <a:ext cx="1196949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</a:tblGrid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SVP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Eng Dir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PM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Mech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Elec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FW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ID/UX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Prod Dev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Q/Mfg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8B2500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Tooling Approval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Regulatory Certifications Confirmed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Reliability Test Report Reviewed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Firmware Release Candidate Ready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Quality Plan Reviewed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Run at Rate Validation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Target Yield Met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GATE: PVT Handover Review</a:t>
                      </a:r>
                    </a:p>
                  </a:txBody>
                  <a:tcPr>
                    <a:solidFill>
                      <a:srgbClr val="12182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8B001A"/>
          </a:solidFill>
          <a:ln>
            <a:solidFill>
              <a:srgbClr val="8B0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PVT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DDDD"/>
                </a:solidFill>
              </a:rPr>
              <a:t>Supporting activities: final BOM, certifications, PFMEA, work instructions.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solidFill>
            <a:srgbClr val="BF1F1F"/>
          </a:solidFill>
          <a:ln>
            <a:solidFill>
              <a:srgbClr val="B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" name="Rectangle 6"/>
          <p:cNvSpPr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solidFill>
            <a:srgbClr val="E07C00"/>
          </a:solidFill>
          <a:ln>
            <a:solidFill>
              <a:srgbClr val="E0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solidFill>
            <a:srgbClr val="1A65AD"/>
          </a:solidFill>
          <a:ln>
            <a:solidFill>
              <a:srgbClr val="1A65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solidFill>
            <a:srgbClr val="888888"/>
          </a:solidFill>
          <a:ln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solidFill>
            <a:srgbClr val="7A187A"/>
          </a:solidFill>
          <a:ln>
            <a:solidFill>
              <a:srgbClr val="7A1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R/A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" y="1005840"/>
          <a:ext cx="1196949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</a:tblGrid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SVP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Eng Dir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PM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Mech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Elec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FW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ID/UX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Prod Dev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Q/Mfg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8B001A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Final Component Cost Analysis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PVT Build Complete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Yield Root Cause Analysis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Limit Sample Tuning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Maintain Firmware Stability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Develop Service Manual / Repair Guide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Technical Training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350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Complete After Action Review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R/A</a:t>
                      </a:r>
                    </a:p>
                  </a:txBody>
                  <a:tcPr>
                    <a:solidFill>
                      <a:srgbClr val="7A187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A004A"/>
          </a:solidFill>
          <a:ln>
            <a:solidFill>
              <a:srgbClr val="4A0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MP / Launch Exit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DDDD"/>
                </a:solidFill>
              </a:rPr>
              <a:t>Are we moving from growth/launch into sustain/retire mode intentionally?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solidFill>
            <a:srgbClr val="BF1F1F"/>
          </a:solidFill>
          <a:ln>
            <a:solidFill>
              <a:srgbClr val="B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" name="Rectangle 6"/>
          <p:cNvSpPr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solidFill>
            <a:srgbClr val="E07C00"/>
          </a:solidFill>
          <a:ln>
            <a:solidFill>
              <a:srgbClr val="E0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solidFill>
            <a:srgbClr val="1A65AD"/>
          </a:solidFill>
          <a:ln>
            <a:solidFill>
              <a:srgbClr val="1A65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3263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solidFill>
            <a:srgbClr val="888888"/>
          </a:solidFill>
          <a:ln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5055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solidFill>
            <a:srgbClr val="7A187A"/>
          </a:solidFill>
          <a:ln>
            <a:solidFill>
              <a:srgbClr val="7A1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56847" y="2560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R/A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" y="1005840"/>
          <a:ext cx="1196949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  <a:gridCol w="890625"/>
              </a:tblGrid>
              <a:tr h="285750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SVP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Eng Dir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PM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Mech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Elec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FW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ID/UX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Prod Dev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Q/Mfg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4A004A"/>
                    </a:solidFill>
                  </a:tcPr>
                </a:tc>
              </a:tr>
              <a:tr h="285750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</a:rPr>
                        <a:t>Product Support / Sustainment Plan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E07C0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BF1F1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88888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A65A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